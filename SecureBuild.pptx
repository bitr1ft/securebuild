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1" r:id="rId5"/>
    <p:sldId id="263" r:id="rId6"/>
    <p:sldId id="264" r:id="rId7"/>
    <p:sldId id="265" r:id="rId8"/>
    <p:sldId id="266" r:id="rId9"/>
    <p:sldId id="267" r:id="rId10"/>
    <p:sldId id="268" r:id="rId11"/>
  </p:sldIdLst>
  <p:sldSz cx="16256000" cy="9144000"/>
  <p:notesSz cx="9144000" cy="16256000"/>
  <p:embeddedFontLst>
    <p:embeddedFont>
      <p:font typeface="Quattrocento Sans" panose="020B0502050000020003" pitchFamily="34" charset="0"/>
      <p:regular r:id="rId13"/>
    </p:embeddedFont>
  </p:embeddedFontLst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6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6808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476500"/>
            <a:ext cx="2540000" cy="381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2794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SecureBuild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413000" y="37465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E8E4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Multi-Gate CI/CD Security Pipeline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0" y="4318000"/>
            <a:ext cx="1016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Software Design &amp; Development Project Report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0" y="5016500"/>
            <a:ext cx="2540000" cy="254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7" name="Text 5"/>
          <p:cNvSpPr/>
          <p:nvPr/>
        </p:nvSpPr>
        <p:spPr>
          <a:xfrm>
            <a:off x="3048000" y="5334000"/>
            <a:ext cx="1016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E8E4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Muhammad Adeel Haider</a:t>
            </a:r>
            <a:r>
              <a:rPr lang="en-US" sz="1600" dirty="0">
                <a:solidFill>
                  <a:srgbClr val="E8E4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(241541) | </a:t>
            </a:r>
            <a:r>
              <a:rPr lang="en-US" sz="1600" b="1" dirty="0">
                <a:solidFill>
                  <a:srgbClr val="E8E4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Wazeema Eeman</a:t>
            </a:r>
            <a:r>
              <a:rPr lang="en-US" sz="1600" dirty="0">
                <a:solidFill>
                  <a:srgbClr val="E8E4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(241493)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48000" y="61595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Cyber Security Academy (NCSA), Air University, Islamabad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Submitted to: Ms. Maryam Mehmood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0" y="7048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2705100" cy="50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SECURITY GATES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RISK &amp; REMEDIATION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INTEGRATION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1270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kern="0" spc="300" dirty="0">
                <a:solidFill>
                  <a:srgbClr val="2E6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1651000"/>
            <a:ext cx="508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Agenda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2476500"/>
            <a:ext cx="1016000" cy="381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2984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E6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24000" y="29845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Problem Statement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556000"/>
            <a:ext cx="6604000" cy="12700"/>
          </a:xfrm>
          <a:prstGeom prst="rect">
            <a:avLst/>
          </a:prstGeom>
          <a:solidFill>
            <a:srgbClr val="D1CCC4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3746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E6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24000" y="37465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4318000"/>
            <a:ext cx="6604000" cy="12700"/>
          </a:xfrm>
          <a:prstGeom prst="rect">
            <a:avLst/>
          </a:prstGeom>
          <a:solidFill>
            <a:srgbClr val="D1CCC4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4508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E6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24000" y="45085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Gates Deep Dive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080000"/>
            <a:ext cx="6604000" cy="12700"/>
          </a:xfrm>
          <a:prstGeom prst="rect">
            <a:avLst/>
          </a:prstGeom>
          <a:solidFill>
            <a:srgbClr val="D1CCC4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5270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E6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24000" y="52705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Scoring &amp; Remediation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5842000"/>
            <a:ext cx="6604000" cy="12700"/>
          </a:xfrm>
          <a:prstGeom prst="rect">
            <a:avLst/>
          </a:prstGeom>
          <a:solidFill>
            <a:srgbClr val="D1CCC4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6032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E6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24000" y="60325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Dashboard, Reporting &amp; CI/CD Integration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6604000"/>
            <a:ext cx="6604000" cy="12700"/>
          </a:xfrm>
          <a:prstGeom prst="rect">
            <a:avLst/>
          </a:prstGeom>
          <a:solidFill>
            <a:srgbClr val="D1CCC4"/>
          </a:solidFill>
          <a:ln/>
        </p:spPr>
      </p:sp>
      <p:sp>
        <p:nvSpPr>
          <p:cNvPr id="28" name="Text 26"/>
          <p:cNvSpPr/>
          <p:nvPr/>
        </p:nvSpPr>
        <p:spPr>
          <a:xfrm>
            <a:off x="762000" y="6794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E6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24000" y="67945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Principles &amp; Conclusion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82000" y="1270000"/>
            <a:ext cx="7112000" cy="660400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31" name="Shape 29"/>
          <p:cNvSpPr/>
          <p:nvPr/>
        </p:nvSpPr>
        <p:spPr>
          <a:xfrm>
            <a:off x="11303000" y="3556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635000" y="0"/>
                </a:moveTo>
                <a:cubicBezTo>
                  <a:pt x="646410" y="0"/>
                  <a:pt x="657820" y="2480"/>
                  <a:pt x="668238" y="7193"/>
                </a:cubicBezTo>
                <a:lnTo>
                  <a:pt x="1135559" y="205383"/>
                </a:lnTo>
                <a:cubicBezTo>
                  <a:pt x="1190129" y="228451"/>
                  <a:pt x="1230809" y="282277"/>
                  <a:pt x="1230561" y="347266"/>
                </a:cubicBezTo>
                <a:cubicBezTo>
                  <a:pt x="1229320" y="593328"/>
                  <a:pt x="1128117" y="1043533"/>
                  <a:pt x="700732" y="1248172"/>
                </a:cubicBezTo>
                <a:cubicBezTo>
                  <a:pt x="659309" y="1268016"/>
                  <a:pt x="611188" y="1268016"/>
                  <a:pt x="569764" y="1248172"/>
                </a:cubicBezTo>
                <a:cubicBezTo>
                  <a:pt x="142131" y="1043533"/>
                  <a:pt x="41176" y="593328"/>
                  <a:pt x="39936" y="347266"/>
                </a:cubicBezTo>
                <a:cubicBezTo>
                  <a:pt x="39687" y="282277"/>
                  <a:pt x="80367" y="228451"/>
                  <a:pt x="134937" y="205383"/>
                </a:cubicBezTo>
                <a:lnTo>
                  <a:pt x="602010" y="7193"/>
                </a:lnTo>
                <a:cubicBezTo>
                  <a:pt x="612428" y="2480"/>
                  <a:pt x="623590" y="0"/>
                  <a:pt x="635000" y="0"/>
                </a:cubicBezTo>
                <a:close/>
                <a:moveTo>
                  <a:pt x="635000" y="165695"/>
                </a:moveTo>
                <a:lnTo>
                  <a:pt x="635000" y="1103561"/>
                </a:lnTo>
                <a:cubicBezTo>
                  <a:pt x="977305" y="937865"/>
                  <a:pt x="1069330" y="570756"/>
                  <a:pt x="1071563" y="350986"/>
                </a:cubicBezTo>
                <a:lnTo>
                  <a:pt x="635000" y="165943"/>
                </a:lnTo>
                <a:lnTo>
                  <a:pt x="635000" y="165943"/>
                </a:lnTo>
                <a:close/>
              </a:path>
            </a:pathLst>
          </a:custGeom>
          <a:solidFill>
            <a:srgbClr val="1B3A4B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890000" y="5080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CI/CD security gate tool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5 parallel security gates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2705100" cy="50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SECURITY GATES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RISK &amp; REMEDIATION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INTEGRATION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7112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Problem Statement &amp; Solution Overview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4986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2000" y="1905000"/>
            <a:ext cx="50800" cy="10795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14" name="Text 12"/>
          <p:cNvSpPr/>
          <p:nvPr/>
        </p:nvSpPr>
        <p:spPr>
          <a:xfrm>
            <a:off x="965200" y="1905000"/>
            <a:ext cx="6654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Security is typically an afterthought — addressed only after a breach. This reactive approach is costly and ineffective.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82000" y="1498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Solution: Shift-Left Security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382000" y="1905000"/>
            <a:ext cx="50800" cy="10795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17" name="Text 15"/>
          <p:cNvSpPr/>
          <p:nvPr/>
        </p:nvSpPr>
        <p:spPr>
          <a:xfrm>
            <a:off x="8585200" y="1905000"/>
            <a:ext cx="6908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SecureBuild embeds </a:t>
            </a:r>
            <a:r>
              <a:rPr lang="en-US" sz="18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 parallel security gates</a:t>
            </a: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into the CI/CD pipeline, catching vulnerabilities </a:t>
            </a:r>
            <a:r>
              <a:rPr lang="en-US" sz="1800" i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before</a:t>
            </a:r>
            <a:r>
              <a:rPr lang="en-US" sz="18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code is merged.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304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Five Security Gates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62000" y="3530600"/>
            <a:ext cx="2743200" cy="165100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20" name="Shape 18"/>
          <p:cNvSpPr/>
          <p:nvPr/>
        </p:nvSpPr>
        <p:spPr>
          <a:xfrm>
            <a:off x="990600" y="368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3363" y="244475"/>
                </a:moveTo>
                <a:cubicBezTo>
                  <a:pt x="300871" y="244475"/>
                  <a:pt x="355600" y="189746"/>
                  <a:pt x="355600" y="122238"/>
                </a:cubicBezTo>
                <a:cubicBezTo>
                  <a:pt x="355600" y="54729"/>
                  <a:pt x="300871" y="0"/>
                  <a:pt x="233363" y="0"/>
                </a:cubicBezTo>
                <a:cubicBezTo>
                  <a:pt x="165854" y="0"/>
                  <a:pt x="111125" y="54729"/>
                  <a:pt x="111125" y="122238"/>
                </a:cubicBezTo>
                <a:cubicBezTo>
                  <a:pt x="111125" y="135225"/>
                  <a:pt x="113139" y="147796"/>
                  <a:pt x="116890" y="159534"/>
                </a:cubicBezTo>
                <a:lnTo>
                  <a:pt x="4862" y="271562"/>
                </a:lnTo>
                <a:cubicBezTo>
                  <a:pt x="1736" y="274687"/>
                  <a:pt x="0" y="278924"/>
                  <a:pt x="0" y="283369"/>
                </a:cubicBezTo>
                <a:lnTo>
                  <a:pt x="0" y="338931"/>
                </a:lnTo>
                <a:cubicBezTo>
                  <a:pt x="0" y="348169"/>
                  <a:pt x="7431" y="355600"/>
                  <a:pt x="16669" y="355600"/>
                </a:cubicBezTo>
                <a:lnTo>
                  <a:pt x="72231" y="355600"/>
                </a:lnTo>
                <a:cubicBezTo>
                  <a:pt x="81469" y="355600"/>
                  <a:pt x="88900" y="348169"/>
                  <a:pt x="88900" y="338931"/>
                </a:cubicBezTo>
                <a:lnTo>
                  <a:pt x="88900" y="311150"/>
                </a:lnTo>
                <a:lnTo>
                  <a:pt x="116681" y="311150"/>
                </a:lnTo>
                <a:cubicBezTo>
                  <a:pt x="125919" y="311150"/>
                  <a:pt x="133350" y="303719"/>
                  <a:pt x="133350" y="294481"/>
                </a:cubicBezTo>
                <a:lnTo>
                  <a:pt x="133350" y="266700"/>
                </a:lnTo>
                <a:lnTo>
                  <a:pt x="161131" y="266700"/>
                </a:lnTo>
                <a:cubicBezTo>
                  <a:pt x="165576" y="266700"/>
                  <a:pt x="169813" y="264964"/>
                  <a:pt x="172938" y="261838"/>
                </a:cubicBezTo>
                <a:lnTo>
                  <a:pt x="196066" y="238710"/>
                </a:lnTo>
                <a:cubicBezTo>
                  <a:pt x="207804" y="242461"/>
                  <a:pt x="220375" y="244475"/>
                  <a:pt x="233363" y="244475"/>
                </a:cubicBezTo>
                <a:close/>
                <a:moveTo>
                  <a:pt x="261144" y="66675"/>
                </a:moveTo>
                <a:cubicBezTo>
                  <a:pt x="276477" y="66675"/>
                  <a:pt x="288925" y="79123"/>
                  <a:pt x="288925" y="94456"/>
                </a:cubicBezTo>
                <a:cubicBezTo>
                  <a:pt x="288925" y="109789"/>
                  <a:pt x="276477" y="122238"/>
                  <a:pt x="261144" y="122238"/>
                </a:cubicBezTo>
                <a:cubicBezTo>
                  <a:pt x="245811" y="122238"/>
                  <a:pt x="233363" y="109789"/>
                  <a:pt x="233363" y="94456"/>
                </a:cubicBezTo>
                <a:cubicBezTo>
                  <a:pt x="233363" y="79123"/>
                  <a:pt x="245811" y="66675"/>
                  <a:pt x="261144" y="66675"/>
                </a:cubicBezTo>
                <a:close/>
              </a:path>
            </a:pathLst>
          </a:custGeom>
          <a:solidFill>
            <a:srgbClr val="2E6B5E"/>
          </a:solidFill>
          <a:ln/>
        </p:spPr>
      </p:sp>
      <p:sp>
        <p:nvSpPr>
          <p:cNvPr id="21" name="Text 19"/>
          <p:cNvSpPr/>
          <p:nvPr/>
        </p:nvSpPr>
        <p:spPr>
          <a:xfrm>
            <a:off x="1447800" y="36830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Secrets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0600" y="4127500"/>
            <a:ext cx="2311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Hardcoded credentials, API keys, AWS keys, tokens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08400" y="3530600"/>
            <a:ext cx="2743200" cy="165100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24" name="Shape 22"/>
          <p:cNvSpPr/>
          <p:nvPr/>
        </p:nvSpPr>
        <p:spPr>
          <a:xfrm>
            <a:off x="3914775" y="3683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2E6B5E"/>
          </a:solidFill>
          <a:ln/>
        </p:spPr>
      </p:sp>
      <p:sp>
        <p:nvSpPr>
          <p:cNvPr id="25" name="Text 23"/>
          <p:cNvSpPr/>
          <p:nvPr/>
        </p:nvSpPr>
        <p:spPr>
          <a:xfrm>
            <a:off x="4394200" y="36830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SAST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937000" y="4127500"/>
            <a:ext cx="2311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 injection, command injection, weak crypto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654800" y="3530600"/>
            <a:ext cx="2743200" cy="165100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28" name="Shape 26"/>
          <p:cNvSpPr/>
          <p:nvPr/>
        </p:nvSpPr>
        <p:spPr>
          <a:xfrm>
            <a:off x="6838950" y="3683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389146" y="164743"/>
                </a:moveTo>
                <a:cubicBezTo>
                  <a:pt x="396369" y="172938"/>
                  <a:pt x="408801" y="174744"/>
                  <a:pt x="418177" y="168563"/>
                </a:cubicBezTo>
                <a:cubicBezTo>
                  <a:pt x="428387" y="161756"/>
                  <a:pt x="431165" y="147935"/>
                  <a:pt x="424359" y="137726"/>
                </a:cubicBezTo>
                <a:lnTo>
                  <a:pt x="391021" y="87719"/>
                </a:lnTo>
                <a:cubicBezTo>
                  <a:pt x="389076" y="84802"/>
                  <a:pt x="386437" y="82371"/>
                  <a:pt x="383312" y="80635"/>
                </a:cubicBezTo>
                <a:lnTo>
                  <a:pt x="244058" y="3264"/>
                </a:lnTo>
                <a:cubicBezTo>
                  <a:pt x="230654" y="-4167"/>
                  <a:pt x="214332" y="-4167"/>
                  <a:pt x="200858" y="3264"/>
                </a:cubicBezTo>
                <a:lnTo>
                  <a:pt x="61674" y="80566"/>
                </a:lnTo>
                <a:cubicBezTo>
                  <a:pt x="57924" y="82649"/>
                  <a:pt x="54937" y="85705"/>
                  <a:pt x="52923" y="89456"/>
                </a:cubicBezTo>
                <a:lnTo>
                  <a:pt x="19239" y="151894"/>
                </a:lnTo>
                <a:cubicBezTo>
                  <a:pt x="10487" y="168146"/>
                  <a:pt x="16599" y="188357"/>
                  <a:pt x="32851" y="197108"/>
                </a:cubicBezTo>
                <a:lnTo>
                  <a:pt x="55771" y="209401"/>
                </a:lnTo>
                <a:lnTo>
                  <a:pt x="55771" y="246420"/>
                </a:lnTo>
                <a:cubicBezTo>
                  <a:pt x="55771" y="262394"/>
                  <a:pt x="64383" y="277187"/>
                  <a:pt x="78274" y="285105"/>
                </a:cubicBezTo>
                <a:lnTo>
                  <a:pt x="200511" y="354350"/>
                </a:lnTo>
                <a:cubicBezTo>
                  <a:pt x="214124" y="362059"/>
                  <a:pt x="230723" y="362059"/>
                  <a:pt x="244336" y="354350"/>
                </a:cubicBezTo>
                <a:lnTo>
                  <a:pt x="366574" y="285105"/>
                </a:lnTo>
                <a:cubicBezTo>
                  <a:pt x="380534" y="277187"/>
                  <a:pt x="389076" y="262463"/>
                  <a:pt x="389076" y="246420"/>
                </a:cubicBezTo>
                <a:lnTo>
                  <a:pt x="389076" y="164812"/>
                </a:lnTo>
                <a:close/>
                <a:moveTo>
                  <a:pt x="222458" y="157936"/>
                </a:moveTo>
                <a:lnTo>
                  <a:pt x="118209" y="100013"/>
                </a:lnTo>
                <a:lnTo>
                  <a:pt x="222458" y="42089"/>
                </a:lnTo>
                <a:lnTo>
                  <a:pt x="326708" y="100013"/>
                </a:lnTo>
                <a:lnTo>
                  <a:pt x="222458" y="157936"/>
                </a:lnTo>
                <a:close/>
                <a:moveTo>
                  <a:pt x="193635" y="192802"/>
                </a:moveTo>
                <a:lnTo>
                  <a:pt x="178842" y="224889"/>
                </a:lnTo>
                <a:lnTo>
                  <a:pt x="63689" y="163215"/>
                </a:lnTo>
                <a:lnTo>
                  <a:pt x="81330" y="130433"/>
                </a:lnTo>
                <a:lnTo>
                  <a:pt x="193635" y="192802"/>
                </a:lnTo>
                <a:close/>
              </a:path>
            </a:pathLst>
          </a:custGeom>
          <a:solidFill>
            <a:srgbClr val="2E6B5E"/>
          </a:solidFill>
          <a:ln/>
        </p:spPr>
      </p:sp>
      <p:sp>
        <p:nvSpPr>
          <p:cNvPr id="29" name="Text 27"/>
          <p:cNvSpPr/>
          <p:nvPr/>
        </p:nvSpPr>
        <p:spPr>
          <a:xfrm>
            <a:off x="7340600" y="36830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CVE Audit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83400" y="4127500"/>
            <a:ext cx="2311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Vulnerable dependencies with known CVEs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601200" y="3530600"/>
            <a:ext cx="2743200" cy="165100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32" name="Shape 30"/>
          <p:cNvSpPr/>
          <p:nvPr/>
        </p:nvSpPr>
        <p:spPr>
          <a:xfrm>
            <a:off x="9785350" y="3683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66700" y="22225"/>
                </a:moveTo>
                <a:lnTo>
                  <a:pt x="355600" y="22225"/>
                </a:lnTo>
                <a:cubicBezTo>
                  <a:pt x="367893" y="22225"/>
                  <a:pt x="377825" y="32157"/>
                  <a:pt x="377825" y="44450"/>
                </a:cubicBezTo>
                <a:cubicBezTo>
                  <a:pt x="377825" y="56743"/>
                  <a:pt x="367893" y="66675"/>
                  <a:pt x="355600" y="66675"/>
                </a:cubicBezTo>
                <a:lnTo>
                  <a:pt x="276701" y="66675"/>
                </a:lnTo>
                <a:cubicBezTo>
                  <a:pt x="273090" y="84594"/>
                  <a:pt x="260796" y="99387"/>
                  <a:pt x="244475" y="106472"/>
                </a:cubicBezTo>
                <a:lnTo>
                  <a:pt x="244475" y="311150"/>
                </a:lnTo>
                <a:lnTo>
                  <a:pt x="355600" y="311150"/>
                </a:lnTo>
                <a:cubicBezTo>
                  <a:pt x="367893" y="311150"/>
                  <a:pt x="377825" y="321082"/>
                  <a:pt x="377825" y="333375"/>
                </a:cubicBezTo>
                <a:cubicBezTo>
                  <a:pt x="377825" y="345668"/>
                  <a:pt x="367893" y="355600"/>
                  <a:pt x="355600" y="355600"/>
                </a:cubicBezTo>
                <a:lnTo>
                  <a:pt x="88900" y="355600"/>
                </a:lnTo>
                <a:cubicBezTo>
                  <a:pt x="76607" y="355600"/>
                  <a:pt x="66675" y="345668"/>
                  <a:pt x="66675" y="333375"/>
                </a:cubicBezTo>
                <a:cubicBezTo>
                  <a:pt x="66675" y="321082"/>
                  <a:pt x="76607" y="311150"/>
                  <a:pt x="88900" y="311150"/>
                </a:cubicBezTo>
                <a:lnTo>
                  <a:pt x="200025" y="311150"/>
                </a:lnTo>
                <a:lnTo>
                  <a:pt x="200025" y="106472"/>
                </a:lnTo>
                <a:cubicBezTo>
                  <a:pt x="183704" y="99318"/>
                  <a:pt x="171410" y="84524"/>
                  <a:pt x="167799" y="66675"/>
                </a:cubicBezTo>
                <a:lnTo>
                  <a:pt x="88900" y="66675"/>
                </a:lnTo>
                <a:cubicBezTo>
                  <a:pt x="76607" y="66675"/>
                  <a:pt x="66675" y="56743"/>
                  <a:pt x="66675" y="44450"/>
                </a:cubicBezTo>
                <a:cubicBezTo>
                  <a:pt x="66675" y="32157"/>
                  <a:pt x="76607" y="22225"/>
                  <a:pt x="88900" y="22225"/>
                </a:cubicBezTo>
                <a:lnTo>
                  <a:pt x="177800" y="22225"/>
                </a:lnTo>
                <a:cubicBezTo>
                  <a:pt x="187940" y="8751"/>
                  <a:pt x="204053" y="0"/>
                  <a:pt x="222250" y="0"/>
                </a:cubicBezTo>
                <a:cubicBezTo>
                  <a:pt x="240447" y="0"/>
                  <a:pt x="256560" y="8751"/>
                  <a:pt x="266700" y="22225"/>
                </a:cubicBezTo>
                <a:close/>
                <a:moveTo>
                  <a:pt x="305316" y="222250"/>
                </a:moveTo>
                <a:lnTo>
                  <a:pt x="405884" y="222250"/>
                </a:lnTo>
                <a:lnTo>
                  <a:pt x="355600" y="135989"/>
                </a:lnTo>
                <a:lnTo>
                  <a:pt x="305316" y="222250"/>
                </a:lnTo>
                <a:close/>
                <a:moveTo>
                  <a:pt x="355600" y="288925"/>
                </a:moveTo>
                <a:cubicBezTo>
                  <a:pt x="311914" y="288925"/>
                  <a:pt x="275590" y="265311"/>
                  <a:pt x="268089" y="234126"/>
                </a:cubicBezTo>
                <a:cubicBezTo>
                  <a:pt x="266283" y="226487"/>
                  <a:pt x="268784" y="218638"/>
                  <a:pt x="272742" y="211832"/>
                </a:cubicBezTo>
                <a:lnTo>
                  <a:pt x="338862" y="98485"/>
                </a:lnTo>
                <a:cubicBezTo>
                  <a:pt x="342334" y="92512"/>
                  <a:pt x="348724" y="88900"/>
                  <a:pt x="355600" y="88900"/>
                </a:cubicBezTo>
                <a:cubicBezTo>
                  <a:pt x="362476" y="88900"/>
                  <a:pt x="368866" y="92581"/>
                  <a:pt x="372338" y="98485"/>
                </a:cubicBezTo>
                <a:lnTo>
                  <a:pt x="438458" y="211832"/>
                </a:lnTo>
                <a:cubicBezTo>
                  <a:pt x="442416" y="218638"/>
                  <a:pt x="444917" y="226487"/>
                  <a:pt x="443111" y="234126"/>
                </a:cubicBezTo>
                <a:cubicBezTo>
                  <a:pt x="435610" y="265241"/>
                  <a:pt x="399286" y="288925"/>
                  <a:pt x="355600" y="288925"/>
                </a:cubicBezTo>
                <a:close/>
                <a:moveTo>
                  <a:pt x="88067" y="135989"/>
                </a:moveTo>
                <a:lnTo>
                  <a:pt x="37783" y="222250"/>
                </a:lnTo>
                <a:lnTo>
                  <a:pt x="138420" y="222250"/>
                </a:lnTo>
                <a:lnTo>
                  <a:pt x="88067" y="135989"/>
                </a:lnTo>
                <a:close/>
                <a:moveTo>
                  <a:pt x="625" y="234126"/>
                </a:moveTo>
                <a:cubicBezTo>
                  <a:pt x="-1181" y="226487"/>
                  <a:pt x="1320" y="218638"/>
                  <a:pt x="5278" y="211832"/>
                </a:cubicBezTo>
                <a:lnTo>
                  <a:pt x="71398" y="98485"/>
                </a:lnTo>
                <a:cubicBezTo>
                  <a:pt x="74870" y="92512"/>
                  <a:pt x="81260" y="88900"/>
                  <a:pt x="88136" y="88900"/>
                </a:cubicBezTo>
                <a:cubicBezTo>
                  <a:pt x="95012" y="88900"/>
                  <a:pt x="101402" y="92581"/>
                  <a:pt x="104874" y="98485"/>
                </a:cubicBezTo>
                <a:lnTo>
                  <a:pt x="170994" y="211832"/>
                </a:lnTo>
                <a:cubicBezTo>
                  <a:pt x="174952" y="218638"/>
                  <a:pt x="177453" y="226487"/>
                  <a:pt x="175647" y="234126"/>
                </a:cubicBezTo>
                <a:cubicBezTo>
                  <a:pt x="168146" y="265241"/>
                  <a:pt x="131822" y="288925"/>
                  <a:pt x="88136" y="288925"/>
                </a:cubicBezTo>
                <a:cubicBezTo>
                  <a:pt x="44450" y="288925"/>
                  <a:pt x="8126" y="265311"/>
                  <a:pt x="625" y="234126"/>
                </a:cubicBezTo>
                <a:close/>
              </a:path>
            </a:pathLst>
          </a:custGeom>
          <a:solidFill>
            <a:srgbClr val="2E6B5E"/>
          </a:solidFill>
          <a:ln/>
        </p:spPr>
      </p:sp>
      <p:sp>
        <p:nvSpPr>
          <p:cNvPr id="33" name="Text 31"/>
          <p:cNvSpPr/>
          <p:nvPr/>
        </p:nvSpPr>
        <p:spPr>
          <a:xfrm>
            <a:off x="10287000" y="36830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Licence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829800" y="4127500"/>
            <a:ext cx="2311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SPDX compliance, licence conflicts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2547600" y="3530600"/>
            <a:ext cx="2946400" cy="165100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36" name="Shape 34"/>
          <p:cNvSpPr/>
          <p:nvPr/>
        </p:nvSpPr>
        <p:spPr>
          <a:xfrm>
            <a:off x="12798425" y="3683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111125"/>
                </a:lnTo>
                <a:cubicBezTo>
                  <a:pt x="0" y="135642"/>
                  <a:pt x="19933" y="155575"/>
                  <a:pt x="44450" y="155575"/>
                </a:cubicBezTo>
                <a:lnTo>
                  <a:pt x="266700" y="155575"/>
                </a:lnTo>
                <a:cubicBezTo>
                  <a:pt x="291217" y="155575"/>
                  <a:pt x="311150" y="135642"/>
                  <a:pt x="311150" y="1111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194469" y="72231"/>
                </a:moveTo>
                <a:cubicBezTo>
                  <a:pt x="203668" y="72231"/>
                  <a:pt x="211138" y="79700"/>
                  <a:pt x="211138" y="88900"/>
                </a:cubicBezTo>
                <a:cubicBezTo>
                  <a:pt x="211138" y="98100"/>
                  <a:pt x="203668" y="105569"/>
                  <a:pt x="194469" y="105569"/>
                </a:cubicBezTo>
                <a:cubicBezTo>
                  <a:pt x="185269" y="105569"/>
                  <a:pt x="177800" y="98100"/>
                  <a:pt x="177800" y="88900"/>
                </a:cubicBezTo>
                <a:cubicBezTo>
                  <a:pt x="177800" y="79700"/>
                  <a:pt x="185269" y="72231"/>
                  <a:pt x="194469" y="72231"/>
                </a:cubicBezTo>
                <a:close/>
                <a:moveTo>
                  <a:pt x="233363" y="88900"/>
                </a:moveTo>
                <a:cubicBezTo>
                  <a:pt x="233363" y="79700"/>
                  <a:pt x="240832" y="72231"/>
                  <a:pt x="250031" y="72231"/>
                </a:cubicBezTo>
                <a:cubicBezTo>
                  <a:pt x="259231" y="72231"/>
                  <a:pt x="266700" y="79700"/>
                  <a:pt x="266700" y="88900"/>
                </a:cubicBezTo>
                <a:cubicBezTo>
                  <a:pt x="266700" y="98100"/>
                  <a:pt x="259231" y="105569"/>
                  <a:pt x="250031" y="105569"/>
                </a:cubicBezTo>
                <a:cubicBezTo>
                  <a:pt x="240832" y="105569"/>
                  <a:pt x="233363" y="98100"/>
                  <a:pt x="233363" y="88900"/>
                </a:cubicBezTo>
                <a:close/>
                <a:moveTo>
                  <a:pt x="44450" y="200025"/>
                </a:moveTo>
                <a:cubicBezTo>
                  <a:pt x="19933" y="200025"/>
                  <a:pt x="0" y="219958"/>
                  <a:pt x="0" y="2444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244475"/>
                </a:lnTo>
                <a:cubicBezTo>
                  <a:pt x="311150" y="219958"/>
                  <a:pt x="291217" y="200025"/>
                  <a:pt x="266700" y="200025"/>
                </a:cubicBezTo>
                <a:lnTo>
                  <a:pt x="44450" y="200025"/>
                </a:lnTo>
                <a:close/>
                <a:moveTo>
                  <a:pt x="194469" y="250031"/>
                </a:moveTo>
                <a:cubicBezTo>
                  <a:pt x="203668" y="250031"/>
                  <a:pt x="211138" y="257500"/>
                  <a:pt x="211138" y="266700"/>
                </a:cubicBezTo>
                <a:cubicBezTo>
                  <a:pt x="211138" y="275900"/>
                  <a:pt x="203668" y="283369"/>
                  <a:pt x="194469" y="283369"/>
                </a:cubicBezTo>
                <a:cubicBezTo>
                  <a:pt x="185269" y="283369"/>
                  <a:pt x="177800" y="275900"/>
                  <a:pt x="177800" y="266700"/>
                </a:cubicBezTo>
                <a:cubicBezTo>
                  <a:pt x="177800" y="257500"/>
                  <a:pt x="185269" y="250031"/>
                  <a:pt x="194469" y="250031"/>
                </a:cubicBezTo>
                <a:close/>
                <a:moveTo>
                  <a:pt x="233363" y="266700"/>
                </a:moveTo>
                <a:cubicBezTo>
                  <a:pt x="233363" y="257500"/>
                  <a:pt x="240832" y="250031"/>
                  <a:pt x="250031" y="250031"/>
                </a:cubicBezTo>
                <a:cubicBezTo>
                  <a:pt x="259231" y="250031"/>
                  <a:pt x="266700" y="257500"/>
                  <a:pt x="266700" y="266700"/>
                </a:cubicBezTo>
                <a:cubicBezTo>
                  <a:pt x="266700" y="275900"/>
                  <a:pt x="259231" y="283369"/>
                  <a:pt x="250031" y="283369"/>
                </a:cubicBezTo>
                <a:cubicBezTo>
                  <a:pt x="240832" y="283369"/>
                  <a:pt x="233363" y="275900"/>
                  <a:pt x="233363" y="266700"/>
                </a:cubicBezTo>
                <a:close/>
              </a:path>
            </a:pathLst>
          </a:custGeom>
          <a:solidFill>
            <a:srgbClr val="2E6B5E"/>
          </a:solidFill>
          <a:ln/>
        </p:spPr>
      </p:sp>
      <p:sp>
        <p:nvSpPr>
          <p:cNvPr id="37" name="Text 35"/>
          <p:cNvSpPr/>
          <p:nvPr/>
        </p:nvSpPr>
        <p:spPr>
          <a:xfrm>
            <a:off x="13233400" y="3683000"/>
            <a:ext cx="2108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IaC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776200" y="4127500"/>
            <a:ext cx="2514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Docker, K8s, GitHub Actions misconfigs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2000" y="546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Capabilities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62000" y="5905500"/>
            <a:ext cx="1473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E6B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Weighted risk scoring engine</a:t>
            </a:r>
            <a:r>
              <a:rPr lang="en-US" sz="16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quantitative 0-100 risk score with configurable blocking thresholds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E6B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Remediation engine</a:t>
            </a:r>
            <a:r>
              <a:rPr lang="en-US" sz="16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44 fix templates with effort estimates and before/after code snippets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E6B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Flask web dashboard</a:t>
            </a:r>
            <a:r>
              <a:rPr lang="en-US" sz="16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run history, repo summaries, file/line context, severity badges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E6B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REST API</a:t>
            </a:r>
            <a:r>
              <a:rPr lang="en-US" sz="16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Bearer token auth, 7 endpoints, SSE real-time progress streaming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E6B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Multi-platform integration</a:t>
            </a:r>
            <a:r>
              <a:rPr lang="en-US" sz="16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GitHub, GitLab, Slack, email, SVG score badges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2705100" y="457200"/>
            <a:ext cx="2717800" cy="50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SECURITY GATES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RISK &amp; REMEDIATION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INTEGRATION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7112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Architecture &amp; Scan Lifecycle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460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FIGURE 1. HIGH-LEVEL SCAN PIPELINE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2000" y="1841500"/>
            <a:ext cx="2159000" cy="5715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1841500"/>
            <a:ext cx="2159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Entry Points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2438400"/>
            <a:ext cx="215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 / REST API / CI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921000" y="2057400"/>
            <a:ext cx="508000" cy="0"/>
          </a:xfrm>
          <a:prstGeom prst="straightConnector1">
            <a:avLst/>
          </a:prstGeom>
          <a:noFill/>
          <a:ln w="25400">
            <a:solidFill>
              <a:srgbClr val="5C6B73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3429000" y="1841500"/>
            <a:ext cx="2159000" cy="5715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1841500"/>
            <a:ext cx="2159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Orchestrator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88000" y="2057400"/>
            <a:ext cx="508000" cy="0"/>
          </a:xfrm>
          <a:prstGeom prst="straightConnector1">
            <a:avLst/>
          </a:prstGeom>
          <a:noFill/>
          <a:ln w="25400">
            <a:solidFill>
              <a:srgbClr val="5C6B73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6096000" y="1841500"/>
            <a:ext cx="2159000" cy="5715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21" name="Text 19"/>
          <p:cNvSpPr/>
          <p:nvPr/>
        </p:nvSpPr>
        <p:spPr>
          <a:xfrm>
            <a:off x="6096000" y="1841500"/>
            <a:ext cx="2159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Gate Runner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6000" y="2438400"/>
            <a:ext cx="215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ThreadPoolExecutor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175500" y="2667000"/>
            <a:ext cx="0" cy="317500"/>
          </a:xfrm>
          <a:prstGeom prst="straightConnector1">
            <a:avLst/>
          </a:prstGeom>
          <a:noFill/>
          <a:ln w="25400">
            <a:solidFill>
              <a:srgbClr val="5C6B73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7937500" y="2667000"/>
            <a:ext cx="0" cy="317500"/>
          </a:xfrm>
          <a:prstGeom prst="straightConnector1">
            <a:avLst/>
          </a:prstGeom>
          <a:noFill/>
          <a:ln w="25400">
            <a:solidFill>
              <a:srgbClr val="5C6B73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9080500" y="2667000"/>
            <a:ext cx="0" cy="317500"/>
          </a:xfrm>
          <a:prstGeom prst="straightConnector1">
            <a:avLst/>
          </a:prstGeom>
          <a:noFill/>
          <a:ln w="25400">
            <a:solidFill>
              <a:srgbClr val="5C6B73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0223500" y="2667000"/>
            <a:ext cx="0" cy="317500"/>
          </a:xfrm>
          <a:prstGeom prst="straightConnector1">
            <a:avLst/>
          </a:prstGeom>
          <a:noFill/>
          <a:ln w="25400">
            <a:solidFill>
              <a:srgbClr val="5C6B73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11366500" y="2667000"/>
            <a:ext cx="0" cy="317500"/>
          </a:xfrm>
          <a:prstGeom prst="straightConnector1">
            <a:avLst/>
          </a:prstGeom>
          <a:noFill/>
          <a:ln w="25400">
            <a:solidFill>
              <a:srgbClr val="5C6B73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6477000" y="2984500"/>
            <a:ext cx="1397000" cy="5080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29" name="Text 27"/>
          <p:cNvSpPr/>
          <p:nvPr/>
        </p:nvSpPr>
        <p:spPr>
          <a:xfrm>
            <a:off x="6477000" y="2984500"/>
            <a:ext cx="139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Gate 1: Secrets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001000" y="2984500"/>
            <a:ext cx="1397000" cy="5080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31" name="Text 29"/>
          <p:cNvSpPr/>
          <p:nvPr/>
        </p:nvSpPr>
        <p:spPr>
          <a:xfrm>
            <a:off x="8001000" y="2984500"/>
            <a:ext cx="139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Gate 2: SAST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525000" y="2984500"/>
            <a:ext cx="1397000" cy="5080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33" name="Text 31"/>
          <p:cNvSpPr/>
          <p:nvPr/>
        </p:nvSpPr>
        <p:spPr>
          <a:xfrm>
            <a:off x="9525000" y="2984500"/>
            <a:ext cx="139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Gate 3: CVE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049000" y="2984500"/>
            <a:ext cx="1397000" cy="5080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35" name="Text 33"/>
          <p:cNvSpPr/>
          <p:nvPr/>
        </p:nvSpPr>
        <p:spPr>
          <a:xfrm>
            <a:off x="11049000" y="2984500"/>
            <a:ext cx="139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Gate 4: Licence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573000" y="2984500"/>
            <a:ext cx="1397000" cy="5080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37" name="Text 35"/>
          <p:cNvSpPr/>
          <p:nvPr/>
        </p:nvSpPr>
        <p:spPr>
          <a:xfrm>
            <a:off x="12573000" y="2984500"/>
            <a:ext cx="139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Gate 5: IaC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097000" y="31115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i="1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parallel execution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175500" y="3492500"/>
            <a:ext cx="0" cy="317500"/>
          </a:xfrm>
          <a:prstGeom prst="straightConnector1">
            <a:avLst/>
          </a:prstGeom>
          <a:noFill/>
          <a:ln w="25400">
            <a:solidFill>
              <a:srgbClr val="5C6B73"/>
            </a:solidFill>
            <a:prstDash val="solid"/>
            <a:headEnd type="arrow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9080500" y="3492500"/>
            <a:ext cx="0" cy="317500"/>
          </a:xfrm>
          <a:prstGeom prst="straightConnector1">
            <a:avLst/>
          </a:prstGeom>
          <a:noFill/>
          <a:ln w="25400">
            <a:solidFill>
              <a:srgbClr val="5C6B73"/>
            </a:solidFill>
            <a:prstDash val="solid"/>
            <a:headEnd type="arrow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11366500" y="3492500"/>
            <a:ext cx="0" cy="317500"/>
          </a:xfrm>
          <a:prstGeom prst="straightConnector1">
            <a:avLst/>
          </a:prstGeom>
          <a:noFill/>
          <a:ln w="25400">
            <a:solidFill>
              <a:srgbClr val="5C6B73"/>
            </a:solidFill>
            <a:prstDash val="solid"/>
            <a:headEnd type="arrow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6477000" y="3810000"/>
            <a:ext cx="7493000" cy="38100"/>
          </a:xfrm>
          <a:prstGeom prst="rect">
            <a:avLst/>
          </a:prstGeom>
          <a:solidFill>
            <a:srgbClr val="5C6B73"/>
          </a:solidFill>
          <a:ln/>
        </p:spPr>
      </p:sp>
      <p:sp>
        <p:nvSpPr>
          <p:cNvPr id="43" name="Shape 41"/>
          <p:cNvSpPr/>
          <p:nvPr/>
        </p:nvSpPr>
        <p:spPr>
          <a:xfrm>
            <a:off x="13970000" y="3708400"/>
            <a:ext cx="508000" cy="0"/>
          </a:xfrm>
          <a:prstGeom prst="straightConnector1">
            <a:avLst/>
          </a:prstGeom>
          <a:noFill/>
          <a:ln w="25400">
            <a:solidFill>
              <a:srgbClr val="5C6B73"/>
            </a:solidFill>
            <a:prstDash val="solid"/>
            <a:headEnd type="none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14478000" y="3492500"/>
            <a:ext cx="1524000" cy="5080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45" name="Text 43"/>
          <p:cNvSpPr/>
          <p:nvPr/>
        </p:nvSpPr>
        <p:spPr>
          <a:xfrm>
            <a:off x="14478000" y="34925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Scorer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62000" y="41275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FIGURE 2. SCAN LIFECYCLE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62000" y="4470400"/>
            <a:ext cx="2540000" cy="635000"/>
          </a:xfrm>
          <a:prstGeom prst="rect">
            <a:avLst/>
          </a:prstGeom>
          <a:solidFill>
            <a:srgbClr val="E8E4D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2000" y="44704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 Repo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 git metadata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302000" y="4787900"/>
            <a:ext cx="381000" cy="0"/>
          </a:xfrm>
          <a:prstGeom prst="straightConnector1">
            <a:avLst/>
          </a:prstGeom>
          <a:noFill/>
          <a:ln w="25400">
            <a:solidFill>
              <a:srgbClr val="5C6B73"/>
            </a:solidFill>
            <a:prstDash val="solid"/>
            <a:headEnd type="none"/>
            <a:tailEnd type="arrow"/>
          </a:ln>
        </p:spPr>
      </p:sp>
      <p:sp>
        <p:nvSpPr>
          <p:cNvPr id="50" name="Shape 48"/>
          <p:cNvSpPr/>
          <p:nvPr/>
        </p:nvSpPr>
        <p:spPr>
          <a:xfrm>
            <a:off x="3683000" y="4470400"/>
            <a:ext cx="2540000" cy="635000"/>
          </a:xfrm>
          <a:prstGeom prst="rect">
            <a:avLst/>
          </a:prstGeom>
          <a:solidFill>
            <a:srgbClr val="E8E4D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83000" y="44704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 Gates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gates in parallel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223000" y="4787900"/>
            <a:ext cx="381000" cy="0"/>
          </a:xfrm>
          <a:prstGeom prst="straightConnector1">
            <a:avLst/>
          </a:prstGeom>
          <a:noFill/>
          <a:ln w="25400">
            <a:solidFill>
              <a:srgbClr val="5C6B73"/>
            </a:solidFill>
            <a:prstDash val="solid"/>
            <a:headEnd type="none"/>
            <a:tailEnd type="arrow"/>
          </a:ln>
        </p:spPr>
      </p:sp>
      <p:sp>
        <p:nvSpPr>
          <p:cNvPr id="53" name="Shape 51"/>
          <p:cNvSpPr/>
          <p:nvPr/>
        </p:nvSpPr>
        <p:spPr>
          <a:xfrm>
            <a:off x="6604000" y="4470400"/>
            <a:ext cx="2540000" cy="635000"/>
          </a:xfrm>
          <a:prstGeom prst="rect">
            <a:avLst/>
          </a:prstGeom>
          <a:solidFill>
            <a:srgbClr val="E8E4D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04000" y="44704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 &amp; Decide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 / Fail / Block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144000" y="4787900"/>
            <a:ext cx="381000" cy="0"/>
          </a:xfrm>
          <a:prstGeom prst="straightConnector1">
            <a:avLst/>
          </a:prstGeom>
          <a:noFill/>
          <a:ln w="25400">
            <a:solidFill>
              <a:srgbClr val="5C6B73"/>
            </a:solidFill>
            <a:prstDash val="solid"/>
            <a:headEnd type="none"/>
            <a:tailEnd type="arrow"/>
          </a:ln>
        </p:spPr>
      </p:sp>
      <p:sp>
        <p:nvSpPr>
          <p:cNvPr id="56" name="Shape 54"/>
          <p:cNvSpPr/>
          <p:nvPr/>
        </p:nvSpPr>
        <p:spPr>
          <a:xfrm>
            <a:off x="9525000" y="4470400"/>
            <a:ext cx="2540000" cy="635000"/>
          </a:xfrm>
          <a:prstGeom prst="rect">
            <a:avLst/>
          </a:prstGeom>
          <a:solidFill>
            <a:srgbClr val="E8E4D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525000" y="44704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 &amp; Report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SQLite + HTML/PDF/JSON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2065000" y="4787900"/>
            <a:ext cx="381000" cy="0"/>
          </a:xfrm>
          <a:prstGeom prst="straightConnector1">
            <a:avLst/>
          </a:prstGeom>
          <a:noFill/>
          <a:ln w="25400">
            <a:solidFill>
              <a:srgbClr val="5C6B73"/>
            </a:solidFill>
            <a:prstDash val="solid"/>
            <a:headEnd type="none"/>
            <a:tailEnd type="arrow"/>
          </a:ln>
        </p:spPr>
      </p:sp>
      <p:sp>
        <p:nvSpPr>
          <p:cNvPr id="59" name="Shape 57"/>
          <p:cNvSpPr/>
          <p:nvPr/>
        </p:nvSpPr>
        <p:spPr>
          <a:xfrm>
            <a:off x="12446000" y="4470400"/>
            <a:ext cx="2540000" cy="635000"/>
          </a:xfrm>
          <a:prstGeom prst="rect">
            <a:avLst/>
          </a:prstGeom>
          <a:solidFill>
            <a:srgbClr val="E8E4D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2446000" y="44704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Notify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Slack / Email / GitHub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62000" y="53975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 1. KEY MODULES</a:t>
            </a:r>
            <a:endParaRPr lang="en-US" sz="12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715000"/>
          <a:ext cx="14732000" cy="2666998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8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5952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Module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Responsibility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84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cli.py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CLI entry point, command routing, exit codes, local report viewing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84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engine/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Orchestrator, gate runner, config validation, models, logging, database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84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gates/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Five independent security gates plus shared helpers (entropy, CWE mapping, IaC discovery)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84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scoring/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Weighted risk scoring, trend analysis, and remediation matching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84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reporter/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HTML/JSON report generation and optional PDF export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84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dashboard/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Flask UI, run views, REST API endpoints with Bearer token authentication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3" name="Text 60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5422900" y="457200"/>
            <a:ext cx="2705100" cy="50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SECURITY GATES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RISK &amp; REMEDIATION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INTEGRATION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7112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Five Security Gates Deep Dive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4224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 2. GATE COVERAGE SUMMARY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27200"/>
          <a:ext cx="14732000" cy="3175000"/>
        </p:xfrm>
        <a:graphic>
          <a:graphicData uri="http://schemas.openxmlformats.org/drawingml/2006/table">
            <a:tbl>
              <a:tblPr/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Gate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Focus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Detection Method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Checks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Secrets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Hardcoded credentials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Pattern matching + Shannon entropy scanning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AWS keys, GitHub PATs, JWTs, PEM keys, .env files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Code-level vulnerabilities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Bandit/Semgrep preferred, built-in AST fallback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SQL injection, command injection, weak crypto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CVE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Dependency risk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requirements.txt / package.json vs bundled CVE DB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Known vulnerable versions, affected ranges, stale pkgs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Licence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Compliance risk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SPDX normalisation + project-type classification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Allow/block overrides, licence conflict detection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IaC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Infrastructure misconfiguration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Dockerfile, Compose, K8s, GitHub Actions scanning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Root containers, missing limits, script injection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62000" y="5143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DETECTION HIGHLIGHTS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2000" y="5524500"/>
            <a:ext cx="50800" cy="14605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16" name="Text 13"/>
          <p:cNvSpPr/>
          <p:nvPr/>
        </p:nvSpPr>
        <p:spPr>
          <a:xfrm>
            <a:off x="965200" y="5524500"/>
            <a:ext cx="431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Gate 1 — Secrets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Findings masked before storage. Inline suppressions (</a:t>
            </a:r>
            <a:r>
              <a:rPr lang="en-US" sz="1200" dirty="0">
                <a:solidFill>
                  <a:srgbClr val="1A1D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nosec</a:t>
            </a: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respected.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588000" y="5524500"/>
            <a:ext cx="50800" cy="14605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18" name="Text 15"/>
          <p:cNvSpPr/>
          <p:nvPr/>
        </p:nvSpPr>
        <p:spPr>
          <a:xfrm>
            <a:off x="5791200" y="5524500"/>
            <a:ext cx="431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Gate 2 — SAST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Multi-tool fallback ensures baseline coverage even without external tools installed.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0414000" y="5524500"/>
            <a:ext cx="50800" cy="14605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20" name="Text 17"/>
          <p:cNvSpPr/>
          <p:nvPr/>
        </p:nvSpPr>
        <p:spPr>
          <a:xfrm>
            <a:off x="10617200" y="5524500"/>
            <a:ext cx="48768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Gates 3-5 — CVE, Licence, IaC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Version-range checks, stale-package detection, SPDX normalisation, and full IaC coverage.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62000" y="7239000"/>
            <a:ext cx="1473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E6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Fixtures:</a:t>
            </a:r>
            <a:r>
              <a:rPr lang="en-US" sz="14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Vulnerable and fixed fixtures under </a:t>
            </a:r>
            <a:r>
              <a:rPr lang="en-US" sz="1200" dirty="0">
                <a:solidFill>
                  <a:srgbClr val="5C6B7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tests/fixtures/</a:t>
            </a:r>
            <a:r>
              <a:rPr lang="en-US" sz="14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 positive and negative regression coverage for each gate and the overall pipeline.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8128000" y="457200"/>
            <a:ext cx="2705100" cy="50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SECURITY GATES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RISK &amp; REMEDIATION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INTEGRATION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7112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Risk Scoring Engine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460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SCORING FORMULA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2000" y="1778000"/>
            <a:ext cx="7112000" cy="127000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1879600"/>
            <a:ext cx="673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contribution</a:t>
            </a:r>
            <a:r>
              <a:rPr lang="en-US" sz="1500" baseline="-400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CVSS</a:t>
            </a:r>
            <a:r>
              <a:rPr lang="en-US" sz="1500" baseline="-400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× w</a:t>
            </a:r>
            <a:r>
              <a:rPr lang="en-US" sz="1500" baseline="-400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gate</a:t>
            </a: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× m</a:t>
            </a:r>
            <a:r>
              <a:rPr lang="en-US" sz="1500" baseline="-400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severity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score = Σ contributions / Σ(w × m)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overall = min(raw, 10) × 10</a:t>
            </a: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r>
              <a:rPr lang="en-US" sz="1500" b="1" dirty="0">
                <a:solidFill>
                  <a:srgbClr val="2E6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0-100 scale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3111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 3. GATE WEIGHTS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429000"/>
          <a:ext cx="7112000" cy="1968500"/>
        </p:xfrm>
        <a:graphic>
          <a:graphicData uri="http://schemas.openxmlformats.org/drawingml/2006/table">
            <a:tbl>
              <a:tblPr/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Gate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Weight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Rationale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Secrets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6B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Immediately exploitable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Direct code vulnerability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CVE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Known public exploits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IaC / Licence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1.1 / 0.8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Config / Legal risk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8382000" y="1460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SEVERITY MULTIPLIERS</a:t>
            </a:r>
            <a:endParaRPr lang="en-US" sz="1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1778000"/>
          <a:ext cx="7112000" cy="19685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Severity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Multiplier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Impact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Critical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6B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2× contribution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1.5× contribution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Medium / Low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1.0 / 0.5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Baseline / Reduced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Info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Minimal impact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8382000" y="40005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 4. RISK THRESHOLDS &amp; ACTIONS</a:t>
            </a:r>
            <a:endParaRPr lang="en-US" sz="120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4318000"/>
          <a:ext cx="7112000" cy="1968500"/>
        </p:xfrm>
        <a:graphic>
          <a:graphicData uri="http://schemas.openxmlformats.org/drawingml/2006/table">
            <a:tbl>
              <a:tblPr/>
              <a:tblGrid>
                <a:gridCol w="156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Score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Level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Pipeline Action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80-100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039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Critical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Deployment blocked immediately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60-79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67E2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Block; address critical/high findings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40-59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Medium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Block if thresholds exceeded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0-39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6B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Low/Min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Pass; address in regular maintenance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 16"/>
          <p:cNvSpPr/>
          <p:nvPr/>
        </p:nvSpPr>
        <p:spPr>
          <a:xfrm>
            <a:off x="762000" y="6477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TREND ANALYSIS &amp; EXPLAINABILITY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762000" y="6794500"/>
            <a:ext cx="736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E6B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5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Compares last </a:t>
            </a:r>
            <a:r>
              <a:rPr lang="en-US" sz="15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 runs</a:t>
            </a:r>
            <a:r>
              <a:rPr lang="en-US" sz="15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labels: </a:t>
            </a:r>
            <a:r>
              <a:rPr lang="en-US" sz="1500" i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improving/stable/degrading/critical regression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E6B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5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500" b="1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simulate_fix()</a:t>
            </a:r>
            <a:r>
              <a:rPr lang="en-US" sz="15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estimates score changes before fixes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E6B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500" dirty="0">
                <a:solidFill>
                  <a:srgbClr val="1A1D2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Narrative of top findings + percentile rank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762000" y="81915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Blocking Conditions (configurable via securebuild.yaml):</a:t>
            </a: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Any critical finding | 5+ high findings | Overall score &gt; 70 | </a:t>
            </a:r>
            <a:r>
              <a:rPr lang="en-US" sz="1500" i="1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warn_only: true</a:t>
            </a:r>
            <a:r>
              <a:rPr lang="en-US" sz="15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disables blocking entirely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10833100" y="457200"/>
            <a:ext cx="2717800" cy="50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SECURITY GATES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RISK &amp; REMEDIATION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INTEGRATION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7112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Remediation, Dashboard &amp; Reporting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460500"/>
            <a:ext cx="444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Remediation Engine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2000" y="1841500"/>
            <a:ext cx="50800" cy="10160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14" name="Text 12"/>
          <p:cNvSpPr/>
          <p:nvPr/>
        </p:nvSpPr>
        <p:spPr>
          <a:xfrm>
            <a:off x="965200" y="1841500"/>
            <a:ext cx="66548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44 fix templates</a:t>
            </a: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</a:t>
            </a:r>
            <a:r>
              <a:rPr lang="en-US" sz="1300" dirty="0">
                <a:solidFill>
                  <a:srgbClr val="1A1D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data/remediation_templates.yaml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Matched by: gate+CWE → gate+rule → CWE → finding type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Includes effort estimates, before/after code, reference links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0" y="1460500"/>
            <a:ext cx="444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Flask Dashboard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382000" y="1841500"/>
            <a:ext cx="50800" cy="10160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17" name="Text 15"/>
          <p:cNvSpPr/>
          <p:nvPr/>
        </p:nvSpPr>
        <p:spPr>
          <a:xfrm>
            <a:off x="8585200" y="1841500"/>
            <a:ext cx="69088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Blueprint-based architecture with run history, repo summaries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File/line context, severity badges, CVSS, CWE IDs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Remediation diffs rendered inline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31496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 5. KEY REST API ENDPOINTS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556000"/>
          <a:ext cx="7112000" cy="2349501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42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Endpoint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42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/api/v1/health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Health check (no auth)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42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/api/v1/scan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Trigger a new scan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42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/api/v1/runs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Paginated run list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42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/api/v1/runs/{id}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Full run detail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43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/api/v1/runs/{id}/stream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SSE real-time progress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94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/api/v1/repos/{name}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Repo aggregate view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762000" y="5994400"/>
            <a:ext cx="711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E6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Auth:</a:t>
            </a:r>
            <a:r>
              <a:rPr lang="en-US" sz="14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Bearer token required (SHA-256 hashed API keys). Missing → HTTP 401; Invalid → HTTP 403.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382000" y="32385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 6. REPORT OUTPUTS</a:t>
            </a:r>
            <a:endParaRPr lang="en-US" sz="1200" dirty="0"/>
          </a:p>
        </p:txBody>
      </p:sp>
      <p:graphicFrame>
        <p:nvGraphicFramePr>
          <p:cNvPr id="2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3556000"/>
          <a:ext cx="7112000" cy="2349501"/>
        </p:xfrm>
        <a:graphic>
          <a:graphicData uri="http://schemas.openxmlformats.org/drawingml/2006/table">
            <a:tbl>
              <a:tblPr/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42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Format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42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HTML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Self-contained report with summary cards, charts, full findings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42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PDF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Printable audit-ready export (WeasyPrint)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42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JSON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Complete RunResult for CI integration and automation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42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Markdown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GitHub Actions job summaries (summary.md)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43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Real-time scan progress streaming without polling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94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Badges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SVG score and per-gate status badges for README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8382000" y="5994400"/>
            <a:ext cx="711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E6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Wins:</a:t>
            </a:r>
            <a:r>
              <a:rPr lang="en-US" sz="14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Remediation engine flags low-effort, high-impact findings so developers can prioritise fixes efficiently.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10833100" y="457200"/>
            <a:ext cx="2717800" cy="50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SECURITY GATES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RISK &amp; REMEDIATION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INTEGRATION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7112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CI/CD Integration &amp; Security Principles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460500"/>
            <a:ext cx="444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CI/CD Pipeline Integration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2000" y="1866900"/>
            <a:ext cx="711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E6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 Actions:</a:t>
            </a: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Minimal permissions, full git history, report artifacts, exits code 1 on critical findings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E6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Docker:</a:t>
            </a: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Multi-stage build, non-root </a:t>
            </a:r>
            <a:r>
              <a:rPr lang="en-US" sz="1300" dirty="0">
                <a:solidFill>
                  <a:srgbClr val="1A1D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securebuild</a:t>
            </a: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user, HEALTHCHECK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E6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Pre-commit:</a:t>
            </a: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Black, Flake8, isort, detect-secrets baseline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2000" y="14605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 7. EXTERNAL INTEGRATIONS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1778000"/>
          <a:ext cx="7112000" cy="1968498"/>
        </p:xfrm>
        <a:graphic>
          <a:graphicData uri="http://schemas.openxmlformats.org/drawingml/2006/table">
            <a:tbl>
              <a:tblPr/>
              <a:tblGrid>
                <a:gridCol w="156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808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Platform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Capabilities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08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GitHub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 summaries, inline comments, commit status updates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08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GitLab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MR comments, pipeline status updates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08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Slack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Block Kit notifications with top findings and score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08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Email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HTML executive summaries via SMTP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08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Badges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SVG score and per-gate status badges for README files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762000" y="38735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Security Principles in the Tool Itself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762000" y="4318000"/>
            <a:ext cx="4699000" cy="127000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18" name="Text 15"/>
          <p:cNvSpPr/>
          <p:nvPr/>
        </p:nvSpPr>
        <p:spPr>
          <a:xfrm>
            <a:off x="952500" y="44196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Fail-Safe Defaults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52500" y="4724400"/>
            <a:ext cx="4318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findings block the pipeline by default. Gate exceptions are surfaced, not ignored.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715000" y="4318000"/>
            <a:ext cx="4699000" cy="127000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21" name="Text 18"/>
          <p:cNvSpPr/>
          <p:nvPr/>
        </p:nvSpPr>
        <p:spPr>
          <a:xfrm>
            <a:off x="5905500" y="44196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Least Privilege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905500" y="4724400"/>
            <a:ext cx="4318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Container runs as non-root user. CI permissions are minimized to required scope only.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668000" y="4318000"/>
            <a:ext cx="4826000" cy="127000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24" name="Text 21"/>
          <p:cNvSpPr/>
          <p:nvPr/>
        </p:nvSpPr>
        <p:spPr>
          <a:xfrm>
            <a:off x="10858500" y="44196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Credential Hygiene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858500" y="4724400"/>
            <a:ext cx="4445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Secret values are masked in all outputs. API keys stored as SHA-256 hashes with revocation.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62000" y="5778500"/>
            <a:ext cx="4699000" cy="127000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27" name="Text 24"/>
          <p:cNvSpPr/>
          <p:nvPr/>
        </p:nvSpPr>
        <p:spPr>
          <a:xfrm>
            <a:off x="952500" y="58801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Defence in Depth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52500" y="6184900"/>
            <a:ext cx="4318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 detection in Gate 1 + multi-tool SAST fallback eliminate single points of failure.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715000" y="5778500"/>
            <a:ext cx="4699000" cy="127000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30" name="Text 27"/>
          <p:cNvSpPr/>
          <p:nvPr/>
        </p:nvSpPr>
        <p:spPr>
          <a:xfrm>
            <a:off x="5905500" y="58801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Auditability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905500" y="6184900"/>
            <a:ext cx="4318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logging and custom exception hierarchy provide full traceable context.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62000" y="7302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E6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Security:</a:t>
            </a:r>
            <a:r>
              <a:rPr lang="en-US" sz="14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SQL parameterised via sqlite3 placeholders. API keys generated with </a:t>
            </a:r>
            <a:r>
              <a:rPr lang="en-US" sz="1200" dirty="0">
                <a:solidFill>
                  <a:srgbClr val="5C6B7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secrets.token_hex(32)</a:t>
            </a:r>
            <a:r>
              <a:rPr lang="en-US" sz="1400" dirty="0">
                <a:solidFill>
                  <a:srgbClr val="5C6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stored as SHA-256 hashes. WAL mode for read concurrency.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13550900" y="457200"/>
            <a:ext cx="2705100" cy="50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SECURITY GATES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RISK &amp; REMEDIATION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INTEGRATION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7112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Configuration System &amp; Future Roadmap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44600"/>
            <a:ext cx="762000" cy="381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460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 8. CONFIGURATION SECTIONS (securebuild.yaml)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14732000" cy="29210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8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534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Project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Name, type (open source/commercial), and language selection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Gates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Per-gate enablement, pattern settings, incremental scan, IaC toggles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Thresholds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Per-severity limits and block/warn behaviour configuration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Exclusions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Global ignore patterns for files and directories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Notifications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Slack and SMTP settings with per-channel enable flags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Integrations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GitHub comment and status update configuration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71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Reporting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Output formats, chart inclusion, per-gate report limits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62000" y="49530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762000" y="5359400"/>
            <a:ext cx="50800" cy="12065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16" name="Text 13"/>
          <p:cNvSpPr/>
          <p:nvPr/>
        </p:nvSpPr>
        <p:spPr>
          <a:xfrm>
            <a:off x="965200" y="5359400"/>
            <a:ext cx="66548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SecureBuild is a </a:t>
            </a: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end-to-end CI/CD security gate tool</a:t>
            </a: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</a:t>
            </a: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parallel gates</a:t>
            </a: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quantitative risk scoring, </a:t>
            </a: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44 fix templates</a:t>
            </a: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multi-platform integration.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382000" y="49530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Future Roadmap (v2)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8382000" y="5359400"/>
            <a:ext cx="50800" cy="12065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19" name="Text 16"/>
          <p:cNvSpPr/>
          <p:nvPr/>
        </p:nvSpPr>
        <p:spPr>
          <a:xfrm>
            <a:off x="8585200" y="5359400"/>
            <a:ext cx="69088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E6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Keep CVE data fresh with automated database updates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E6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 git history scanning for secrets (detect committed credentials)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E6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500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Expand remediation template library beyond 44 templates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62000" y="6858000"/>
            <a:ext cx="14732000" cy="10160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21" name="Text 18"/>
          <p:cNvSpPr/>
          <p:nvPr/>
        </p:nvSpPr>
        <p:spPr>
          <a:xfrm>
            <a:off x="1016000" y="69596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Modular gate architecture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</a:t>
            </a: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Weighted risk scoring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</a:t>
            </a: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Multi-tool SAST fallback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</a:t>
            </a: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44 remediation templates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Actionable results without sacrificing reliability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C6B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94000"/>
            <a:ext cx="2540000" cy="381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3" name="Text 1"/>
          <p:cNvSpPr/>
          <p:nvPr/>
        </p:nvSpPr>
        <p:spPr>
          <a:xfrm>
            <a:off x="3048000" y="31115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83000" y="4064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SecureBuild — Shifting Security Left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4699000"/>
            <a:ext cx="2540000" cy="25400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6" name="Text 4"/>
          <p:cNvSpPr/>
          <p:nvPr/>
        </p:nvSpPr>
        <p:spPr>
          <a:xfrm>
            <a:off x="4318000" y="50165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i="1" dirty="0">
                <a:solidFill>
                  <a:srgbClr val="E8E4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83000" y="5842000"/>
            <a:ext cx="889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5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Muhammad Adeel Haider</a:t>
            </a:r>
            <a:r>
              <a:rPr lang="en-US" sz="1500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(241541) | </a:t>
            </a:r>
            <a:r>
              <a:rPr lang="en-US" sz="1500" b="1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Wazeema Eeman</a:t>
            </a:r>
            <a:r>
              <a:rPr lang="en-US" sz="1500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(241493)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83000" y="6604000"/>
            <a:ext cx="889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Cyber Security Academy (NCSA), Air University, Islamabad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8A94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Supervisor: Ms. Maryam Mehmood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1675</Words>
  <Application>Microsoft Office PowerPoint</Application>
  <PresentationFormat>Custom</PresentationFormat>
  <Paragraphs>352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QuattrocentoSans</vt:lpstr>
      <vt:lpstr>Arial</vt:lpstr>
      <vt:lpstr>Quattrocento Sans</vt:lpstr>
      <vt:lpstr>monospace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SecureBuild — Multi-Gate CI/CD Security Pipeline</dc:title>
  <dc:subject>SecureBuild — Multi-Gate CI/CD Security Pipeline</dc:subject>
  <dc:creator>Kimi</dc:creator>
  <cp:lastModifiedBy>Adeel Haider</cp:lastModifiedBy>
  <cp:revision>2</cp:revision>
  <dcterms:created xsi:type="dcterms:W3CDTF">2026-06-02T05:41:46Z</dcterms:created>
  <dcterms:modified xsi:type="dcterms:W3CDTF">2026-06-02T05:42:46Z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{"Label":"SecureBuild — Multi-Gate CI/CD Security Pipeline","ContentProducer":"001191110108MACG2KBH8F10000","ProduceID":"19e86d93-1182-86f2-8000-0000e5d8fb1f","ReservedCode1":"","ContentPropagator":"001191110108MACG2KBH8F20000","PropagateID":"19e86d93-1182-86f2-8000-0000e5d8fb1f","ReservedCode2":""}</vt:lpwstr>
  </property>
</Properties>
</file>